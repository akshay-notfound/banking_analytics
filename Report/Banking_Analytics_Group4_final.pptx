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331ACAC-32DE-CD3F-5FBC-9BE27FC14DA7}">
          <p14:sldIdLst>
            <p14:sldId id="256"/>
            <p14:sldId id="257"/>
          </p14:sldIdLst>
        </p14:section>
        <p14:section name="Data Overview" id="{543959D8-CD35-5584-DFCA-7DCA1F03ADCE}">
          <p14:sldIdLst>
            <p14:sldId id="258"/>
          </p14:sldIdLst>
        </p14:section>
        <p14:section name="Objectives &amp; KPIs" id="{FAB454ED-FF06-D90A-EB56-FF59EFFFFB12}">
          <p14:sldIdLst>
            <p14:sldId id="259"/>
            <p14:sldId id="260"/>
          </p14:sldIdLst>
        </p14:section>
        <p14:section name="Process" id="{4400BDD2-6CC0-0568-596D-5B92F3041AF4}">
          <p14:sldIdLst>
            <p14:sldId id="261"/>
          </p14:sldIdLst>
        </p14:section>
        <p14:section name="Analysis" id="{896D167B-1BD4-71B2-E537-C47E4080044B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ommendations" id="{EB074C44-0407-0AC6-A6E3-6C2C03F26DBA}">
          <p14:sldIdLst>
            <p14:sldId id="270"/>
          </p14:sldIdLst>
        </p14:section>
        <p14:section name="Conclusion" id="{70BA6D92-9A7C-6110-9D9C-BDCED752EC35}">
          <p14:sldIdLst>
            <p14:sldId id="271"/>
          </p14:sldIdLst>
        </p14:section>
        <p14:section name="Challenges &amp; Learnings" id="{092058B2-2D39-CADA-9302-7AE361F554EA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12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two projects: Bank Loan Analytics and Credit-Debit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Banking Analytics  |  Bank Loan &amp; Credit-Debit  |  Group 4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8229600" y="5669280"/>
            <a:ext cx="1280160" cy="1280160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DATA ANALYTICS PROJECT</a:t>
            </a:r>
            <a:endParaRPr lang="en-US" sz="14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Analytics</a:t>
            </a:r>
            <a:endParaRPr lang="en-US" sz="5400" dirty="0"/>
          </a:p>
        </p:txBody>
      </p:sp>
      <p:sp>
        <p:nvSpPr>
          <p:cNvPr id="7" name="Subtitle"/>
          <p:cNvSpPr txBox="1"/>
          <p:nvPr/>
        </p:nvSpPr>
        <p:spPr>
          <a:xfrm>
            <a:off x="73152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chemeClr val="bg2"/>
                </a:solidFill>
              </a:rPr>
              <a:t>Bank Loan Analytics  &amp;  Credit-Debit Analytics</a:t>
            </a:r>
            <a:endParaRPr lang="en-US" sz="2200" dirty="0"/>
          </a:p>
        </p:txBody>
      </p:sp>
      <p:sp>
        <p:nvSpPr>
          <p:cNvPr id="8" name="Chip Excel"/>
          <p:cNvSpPr/>
          <p:nvPr/>
        </p:nvSpPr>
        <p:spPr>
          <a:xfrm>
            <a:off x="731520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Excel</a:t>
            </a:r>
            <a:endParaRPr lang="en-US" sz="1400" dirty="0"/>
          </a:p>
        </p:txBody>
      </p:sp>
      <p:sp>
        <p:nvSpPr>
          <p:cNvPr id="10" name="Chip MySQL"/>
          <p:cNvSpPr/>
          <p:nvPr/>
        </p:nvSpPr>
        <p:spPr>
          <a:xfrm>
            <a:off x="2011680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168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</a:t>
            </a:r>
            <a:endParaRPr lang="en-US" sz="1400" dirty="0"/>
          </a:p>
        </p:txBody>
      </p:sp>
      <p:sp>
        <p:nvSpPr>
          <p:cNvPr id="12" name="Chip Tableau"/>
          <p:cNvSpPr/>
          <p:nvPr/>
        </p:nvSpPr>
        <p:spPr>
          <a:xfrm>
            <a:off x="3291840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Tableau</a:t>
            </a:r>
            <a:endParaRPr lang="en-US" sz="1400" dirty="0"/>
          </a:p>
        </p:txBody>
      </p:sp>
      <p:sp>
        <p:nvSpPr>
          <p:cNvPr id="14" name="Chip Power BI"/>
          <p:cNvSpPr/>
          <p:nvPr/>
        </p:nvSpPr>
        <p:spPr>
          <a:xfrm>
            <a:off x="4572000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Power BI</a:t>
            </a:r>
            <a:endParaRPr lang="en-US" sz="1400" dirty="0"/>
          </a:p>
        </p:txBody>
      </p:sp>
      <p:sp>
        <p:nvSpPr>
          <p:cNvPr id="16" name="TeamCard"/>
          <p:cNvSpPr/>
          <p:nvPr/>
        </p:nvSpPr>
        <p:spPr>
          <a:xfrm>
            <a:off x="731520" y="3840480"/>
            <a:ext cx="1069848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4  |  Project Team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Akshay Shivaji Rathod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Tejaswini Bhagwan </a:t>
            </a:r>
            <a:r>
              <a:rPr lang="en-US" sz="1600" dirty="0" err="1">
                <a:solidFill>
                  <a:schemeClr val="tx1"/>
                </a:solidFill>
              </a:rPr>
              <a:t>Kothawade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600" dirty="0"/>
              <a:t>Vaibhavi Dattatreya </a:t>
            </a:r>
            <a:r>
              <a:rPr lang="en-US" sz="1600" dirty="0" err="1"/>
              <a:t>Karavkar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Dileep Ponduru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Surada Sagar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Ankita Chandrakant Thaware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Jaya Khandelwal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-1280160" y="-914400"/>
            <a:ext cx="2560320" cy="256032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0789920" y="4389120"/>
            <a:ext cx="2560320" cy="256032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6949440" y="-54864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Two banking datasets, four tools, one end-to-end workflow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Banks generate huge volumes of lending and transaction data. This project turns that raw data into dashboards that help stakeholders monitor portfolio health, repayment, risk and cash flow.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KPIs built in Excel, Tableau and Power BI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MySQL as the common data layer for Tableau and Power BI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Query results validated against dashboards</a:t>
            </a:r>
            <a:endParaRPr lang="en-US" sz="1600" dirty="0"/>
          </a:p>
        </p:txBody>
      </p:sp>
      <p:sp>
        <p:nvSpPr>
          <p:cNvPr id="9" name="ProjectCard1"/>
          <p:cNvSpPr/>
          <p:nvPr/>
        </p:nvSpPr>
        <p:spPr>
          <a:xfrm>
            <a:off x="5852160" y="1645920"/>
            <a:ext cx="5760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920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Analytics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688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Loan portfolio: funded amount, collections, interest, delinquency, default and verification risk.</a:t>
            </a:r>
            <a:endParaRPr lang="en-US" sz="1400" dirty="0"/>
          </a:p>
        </p:txBody>
      </p:sp>
      <p:sp>
        <p:nvSpPr>
          <p:cNvPr id="14" name="ProjectCard2"/>
          <p:cNvSpPr/>
          <p:nvPr/>
        </p:nvSpPr>
        <p:spPr>
          <a:xfrm>
            <a:off x="5852160" y="3931920"/>
            <a:ext cx="5760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4206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Credit-Debit Analytics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7548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 flow: credits vs debits, balances, branch and bank volumes, suspicious activity.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9509760" y="4937760"/>
            <a:ext cx="3108960" cy="310896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1097280" y="731520"/>
            <a:ext cx="1828800" cy="182880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4754880" y="6035040"/>
            <a:ext cx="1097280" cy="109728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Two source files loaded into MySQL (banking_analytics_project2)</a:t>
            </a:r>
            <a:endParaRPr lang="en-US" sz="1600" dirty="0"/>
          </a:p>
        </p:txBody>
      </p:sp>
      <p:sp>
        <p:nvSpPr>
          <p:cNvPr id="7" name="DataCard1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Data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Bank_Data_Analystics.xlsx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loan records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2651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columns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0233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Borrower: age, religion, caste, home ownership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Loan: amount, funded amount, interest rate, term, grade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Status: loan status, delinquent, default, verification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Location: state, city, branch, region</a:t>
            </a:r>
            <a:endParaRPr lang="en-US" sz="1400" dirty="0"/>
          </a:p>
        </p:txBody>
      </p:sp>
      <p:sp>
        <p:nvSpPr>
          <p:cNvPr id="17" name="DataCard2"/>
          <p:cNvSpPr/>
          <p:nvPr/>
        </p:nvSpPr>
        <p:spPr>
          <a:xfrm>
            <a:off x="6309360" y="155448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62940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Credit-Debit Data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Debit_and_Credit_banking_data.xlsx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651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0" y="2651760"/>
            <a:ext cx="233172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0" y="2697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columns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0233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Customer, account, date (2024), amount, balance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Transaction type: Credit / Debit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Method: Credit Card, Debit Card, Bank Transfer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banks and 6 branches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972800" y="-1280160"/>
            <a:ext cx="2377440" cy="237744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82880" y="5669280"/>
            <a:ext cx="2011680" cy="201168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9144000" y="310896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Objectives: Loan KPIs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KPI definitions and values from the Excel analysis  |  Amounts in ₹ millions (M)</a:t>
            </a:r>
            <a:endParaRPr lang="en-US" sz="1600" dirty="0"/>
          </a:p>
        </p:txBody>
      </p:sp>
      <p:sp>
        <p:nvSpPr>
          <p:cNvPr id="7" name="KPI1"/>
          <p:cNvSpPr/>
          <p:nvPr/>
        </p:nvSpPr>
        <p:spPr>
          <a:xfrm>
            <a:off x="548640" y="1417320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472184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 Loans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08758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73055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Loan records in cleaned dataset</a:t>
            </a:r>
            <a:endParaRPr lang="en-US" sz="1000" dirty="0"/>
          </a:p>
        </p:txBody>
      </p:sp>
      <p:sp>
        <p:nvSpPr>
          <p:cNvPr id="11" name="KPI2"/>
          <p:cNvSpPr/>
          <p:nvPr/>
        </p:nvSpPr>
        <p:spPr>
          <a:xfrm>
            <a:off x="3355848" y="1417320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93008" y="1472184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 Loan Amount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708758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750.97M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073055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Approved/issued across all loans</a:t>
            </a:r>
            <a:endParaRPr lang="en-US" sz="1000" dirty="0"/>
          </a:p>
        </p:txBody>
      </p:sp>
      <p:sp>
        <p:nvSpPr>
          <p:cNvPr id="15" name="KPI3"/>
          <p:cNvSpPr/>
          <p:nvPr/>
        </p:nvSpPr>
        <p:spPr>
          <a:xfrm>
            <a:off x="6163056" y="1417320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00216" y="1472184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 Funded Amount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1708758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732.70M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073055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Amount actually funded</a:t>
            </a:r>
            <a:endParaRPr lang="en-US" sz="1000" dirty="0"/>
          </a:p>
        </p:txBody>
      </p:sp>
      <p:sp>
        <p:nvSpPr>
          <p:cNvPr id="19" name="KPI4"/>
          <p:cNvSpPr/>
          <p:nvPr/>
        </p:nvSpPr>
        <p:spPr>
          <a:xfrm>
            <a:off x="8970264" y="1417320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07424" y="1472184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 Interest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07424" y="1708758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155.29M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07424" y="2073055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Interest recorded across loans</a:t>
            </a:r>
            <a:endParaRPr lang="en-US" sz="1000" dirty="0"/>
          </a:p>
        </p:txBody>
      </p:sp>
      <p:sp>
        <p:nvSpPr>
          <p:cNvPr id="23" name="KPI5"/>
          <p:cNvSpPr/>
          <p:nvPr/>
        </p:nvSpPr>
        <p:spPr>
          <a:xfrm>
            <a:off x="548640" y="2401214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85800" y="2456078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 Recoveries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2692652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6.52M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056949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Repayments and recoveries</a:t>
            </a:r>
            <a:endParaRPr lang="en-US" sz="1000" dirty="0"/>
          </a:p>
        </p:txBody>
      </p:sp>
      <p:sp>
        <p:nvSpPr>
          <p:cNvPr id="27" name="KPI6"/>
          <p:cNvSpPr/>
          <p:nvPr/>
        </p:nvSpPr>
        <p:spPr>
          <a:xfrm>
            <a:off x="3355848" y="2401214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493008" y="2456078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Total Collection Recovery Fee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2692652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0.76M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3493008" y="3056949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Fees on collection activity</a:t>
            </a:r>
            <a:endParaRPr lang="en-US" sz="1000" dirty="0"/>
          </a:p>
        </p:txBody>
      </p:sp>
      <p:sp>
        <p:nvSpPr>
          <p:cNvPr id="31" name="KPI7"/>
          <p:cNvSpPr/>
          <p:nvPr/>
        </p:nvSpPr>
        <p:spPr>
          <a:xfrm>
            <a:off x="6163056" y="2401214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300216" y="2456078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Default Loans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2692652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1,020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300216" y="3056949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Loans identified as default</a:t>
            </a:r>
            <a:endParaRPr lang="en-US" sz="1000" dirty="0"/>
          </a:p>
        </p:txBody>
      </p:sp>
      <p:sp>
        <p:nvSpPr>
          <p:cNvPr id="35" name="KPI8"/>
          <p:cNvSpPr/>
          <p:nvPr/>
        </p:nvSpPr>
        <p:spPr>
          <a:xfrm>
            <a:off x="8970264" y="2401214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9107424" y="2456078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Delinquent Loans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07424" y="2692652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7,106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9107424" y="3056949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Loans overdue</a:t>
            </a:r>
            <a:endParaRPr lang="en-US" sz="1000" dirty="0"/>
          </a:p>
        </p:txBody>
      </p:sp>
      <p:sp>
        <p:nvSpPr>
          <p:cNvPr id="39" name="KPI9"/>
          <p:cNvSpPr/>
          <p:nvPr/>
        </p:nvSpPr>
        <p:spPr>
          <a:xfrm>
            <a:off x="548640" y="3385109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3439973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Not Verified Loans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3676546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16,921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4040843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Verification status: not verified</a:t>
            </a:r>
            <a:endParaRPr lang="en-US" sz="1000" dirty="0"/>
          </a:p>
        </p:txBody>
      </p:sp>
      <p:sp>
        <p:nvSpPr>
          <p:cNvPr id="43" name="KPI10"/>
          <p:cNvSpPr/>
          <p:nvPr/>
        </p:nvSpPr>
        <p:spPr>
          <a:xfrm>
            <a:off x="3355848" y="3385109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3493008" y="3439973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Default Rate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493008" y="3676546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1.6%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3493008" y="4040843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% of loans in default</a:t>
            </a:r>
            <a:endParaRPr lang="en-US" sz="1000" dirty="0"/>
          </a:p>
        </p:txBody>
      </p:sp>
      <p:sp>
        <p:nvSpPr>
          <p:cNvPr id="47" name="KPI11"/>
          <p:cNvSpPr/>
          <p:nvPr/>
        </p:nvSpPr>
        <p:spPr>
          <a:xfrm>
            <a:off x="6163056" y="3385109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300216" y="3439973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Delinquent Rate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300216" y="3676546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6300216" y="4040843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% of loans delinquent</a:t>
            </a:r>
            <a:endParaRPr lang="en-US" sz="1000" dirty="0"/>
          </a:p>
        </p:txBody>
      </p:sp>
      <p:sp>
        <p:nvSpPr>
          <p:cNvPr id="51" name="KPI12"/>
          <p:cNvSpPr/>
          <p:nvPr/>
        </p:nvSpPr>
        <p:spPr>
          <a:xfrm>
            <a:off x="8970264" y="3385109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9107424" y="3439973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Not Verified Rate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107424" y="3676546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25.8%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9107424" y="4040843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% of loans not verified</a:t>
            </a:r>
            <a:endParaRPr lang="en-US" sz="1000" dirty="0"/>
          </a:p>
        </p:txBody>
      </p:sp>
      <p:sp>
        <p:nvSpPr>
          <p:cNvPr id="55" name="KPI13"/>
          <p:cNvSpPr/>
          <p:nvPr/>
        </p:nvSpPr>
        <p:spPr>
          <a:xfrm>
            <a:off x="548640" y="4369003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685800" y="4423867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Average Loan Amount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85800" y="4660441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11.46K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685800" y="5024738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Average per loan record</a:t>
            </a:r>
            <a:endParaRPr lang="en-US" sz="1000" dirty="0"/>
          </a:p>
        </p:txBody>
      </p:sp>
      <p:sp>
        <p:nvSpPr>
          <p:cNvPr id="59" name="KPI14"/>
          <p:cNvSpPr/>
          <p:nvPr/>
        </p:nvSpPr>
        <p:spPr>
          <a:xfrm>
            <a:off x="3355848" y="4369003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3493008" y="4423867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Average Interest Rate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3493008" y="4660441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12.0%</a:t>
            </a:r>
            <a:endParaRPr lang="en-US" sz="1700" dirty="0"/>
          </a:p>
        </p:txBody>
      </p:sp>
      <p:sp>
        <p:nvSpPr>
          <p:cNvPr id="62" name="Text 60"/>
          <p:cNvSpPr txBox="1"/>
          <p:nvPr/>
        </p:nvSpPr>
        <p:spPr>
          <a:xfrm>
            <a:off x="3493008" y="5024738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Average rate across portfolio</a:t>
            </a:r>
            <a:endParaRPr lang="en-US" sz="1000" dirty="0"/>
          </a:p>
        </p:txBody>
      </p:sp>
      <p:sp>
        <p:nvSpPr>
          <p:cNvPr id="63" name="KPI15"/>
          <p:cNvSpPr/>
          <p:nvPr/>
        </p:nvSpPr>
        <p:spPr>
          <a:xfrm>
            <a:off x="6163056" y="4369003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6300216" y="4423867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Loan Status Count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300216" y="4660441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700" dirty="0"/>
          </a:p>
        </p:txBody>
      </p:sp>
      <p:sp>
        <p:nvSpPr>
          <p:cNvPr id="66" name="Text 64"/>
          <p:cNvSpPr txBox="1"/>
          <p:nvPr/>
        </p:nvSpPr>
        <p:spPr>
          <a:xfrm>
            <a:off x="6300216" y="5024738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Count by current loan status</a:t>
            </a:r>
            <a:endParaRPr lang="en-US" sz="1000" dirty="0"/>
          </a:p>
        </p:txBody>
      </p:sp>
      <p:sp>
        <p:nvSpPr>
          <p:cNvPr id="67" name="KPI16"/>
          <p:cNvSpPr/>
          <p:nvPr/>
        </p:nvSpPr>
        <p:spPr>
          <a:xfrm>
            <a:off x="8970264" y="4369003"/>
            <a:ext cx="26517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9107424" y="4423867"/>
            <a:ext cx="23774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Loan Maturity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9107424" y="4660441"/>
            <a:ext cx="23774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43.2 months</a:t>
            </a:r>
            <a:endParaRPr lang="en-US" sz="1700" dirty="0"/>
          </a:p>
        </p:txBody>
      </p:sp>
      <p:sp>
        <p:nvSpPr>
          <p:cNvPr id="70" name="Text 68"/>
          <p:cNvSpPr txBox="1"/>
          <p:nvPr/>
        </p:nvSpPr>
        <p:spPr>
          <a:xfrm>
            <a:off x="9107424" y="5024738"/>
            <a:ext cx="23774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Repayment period analysis</a:t>
            </a:r>
            <a:endParaRPr lang="en-US" sz="1000" dirty="0"/>
          </a:p>
        </p:txBody>
      </p:sp>
      <p:sp>
        <p:nvSpPr>
          <p:cNvPr id="71" name="KPI17"/>
          <p:cNvSpPr/>
          <p:nvPr/>
        </p:nvSpPr>
        <p:spPr>
          <a:xfrm>
            <a:off x="548640" y="5352898"/>
            <a:ext cx="5468112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685800" y="5407762"/>
            <a:ext cx="5193792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Loan Verification Rate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685800" y="5644335"/>
            <a:ext cx="5193792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1800" dirty="0"/>
          </a:p>
        </p:txBody>
      </p:sp>
      <p:sp>
        <p:nvSpPr>
          <p:cNvPr id="74" name="Text 72"/>
          <p:cNvSpPr txBox="1"/>
          <p:nvPr/>
        </p:nvSpPr>
        <p:spPr>
          <a:xfrm>
            <a:off x="685800" y="6008632"/>
            <a:ext cx="5193792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Percentage of loans that are verified</a:t>
            </a:r>
            <a:endParaRPr lang="en-US" sz="1100" dirty="0"/>
          </a:p>
        </p:txBody>
      </p:sp>
      <p:sp>
        <p:nvSpPr>
          <p:cNvPr id="75" name="KPI18"/>
          <p:cNvSpPr/>
          <p:nvPr/>
        </p:nvSpPr>
        <p:spPr>
          <a:xfrm>
            <a:off x="6153912" y="5352898"/>
            <a:ext cx="5458968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6291072" y="5407762"/>
            <a:ext cx="5184648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Collection Recovery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6291072" y="5644335"/>
            <a:ext cx="5184648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6.52M</a:t>
            </a:r>
            <a:endParaRPr lang="en-US" sz="1800" dirty="0"/>
          </a:p>
        </p:txBody>
      </p:sp>
      <p:sp>
        <p:nvSpPr>
          <p:cNvPr id="78" name="Text 76"/>
          <p:cNvSpPr txBox="1"/>
          <p:nvPr/>
        </p:nvSpPr>
        <p:spPr>
          <a:xfrm>
            <a:off x="6291072" y="6008632"/>
            <a:ext cx="5184648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Overall recovery performance of the loan portfolio</a:t>
            </a:r>
            <a:endParaRPr lang="en-US" sz="1100" dirty="0"/>
          </a:p>
        </p:txBody>
      </p:sp>
      <p:sp>
        <p:nvSpPr>
          <p:cNvPr id="7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8229600" y="5669280"/>
            <a:ext cx="1280160" cy="128016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Objectives: Credit-Debit KPIs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KPI definitions and values from the Excel analysis  |  Amounts in ₹ millions (M)</a:t>
            </a:r>
            <a:endParaRPr lang="en-US" sz="1600" dirty="0"/>
          </a:p>
        </p:txBody>
      </p:sp>
      <p:sp>
        <p:nvSpPr>
          <p:cNvPr id="7" name="KPI1"/>
          <p:cNvSpPr/>
          <p:nvPr/>
        </p:nvSpPr>
        <p:spPr>
          <a:xfrm>
            <a:off x="548640" y="1417320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472184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Customers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08758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073055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Unique customers/accounts</a:t>
            </a:r>
            <a:endParaRPr lang="en-US" sz="1100" dirty="0"/>
          </a:p>
        </p:txBody>
      </p:sp>
      <p:sp>
        <p:nvSpPr>
          <p:cNvPr id="11" name="KPI2"/>
          <p:cNvSpPr/>
          <p:nvPr/>
        </p:nvSpPr>
        <p:spPr>
          <a:xfrm>
            <a:off x="4297680" y="1417320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34840" y="1472184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Transactions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1708758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073055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Transaction records in dataset</a:t>
            </a:r>
            <a:endParaRPr lang="en-US" sz="1100" dirty="0"/>
          </a:p>
        </p:txBody>
      </p:sp>
      <p:sp>
        <p:nvSpPr>
          <p:cNvPr id="15" name="KPI3"/>
          <p:cNvSpPr/>
          <p:nvPr/>
        </p:nvSpPr>
        <p:spPr>
          <a:xfrm>
            <a:off x="8046720" y="1417320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83880" y="1472184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Credit Amount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1708758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127.60M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073055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Sum where type = Credit</a:t>
            </a:r>
            <a:endParaRPr lang="en-US" sz="1100" dirty="0"/>
          </a:p>
        </p:txBody>
      </p:sp>
      <p:sp>
        <p:nvSpPr>
          <p:cNvPr id="19" name="KPI4"/>
          <p:cNvSpPr/>
          <p:nvPr/>
        </p:nvSpPr>
        <p:spPr>
          <a:xfrm>
            <a:off x="548640" y="2401214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2456078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Debit Amount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692652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127.29M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056949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Sum where type = Debit</a:t>
            </a:r>
            <a:endParaRPr lang="en-US" sz="1100" dirty="0"/>
          </a:p>
        </p:txBody>
      </p:sp>
      <p:sp>
        <p:nvSpPr>
          <p:cNvPr id="23" name="KPI5"/>
          <p:cNvSpPr/>
          <p:nvPr/>
        </p:nvSpPr>
        <p:spPr>
          <a:xfrm>
            <a:off x="4297680" y="2401214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434840" y="2456078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Balance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2692652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526.08M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3056949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Balance across all accounts</a:t>
            </a:r>
            <a:endParaRPr lang="en-US" sz="1100" dirty="0"/>
          </a:p>
        </p:txBody>
      </p:sp>
      <p:sp>
        <p:nvSpPr>
          <p:cNvPr id="27" name="KPI6"/>
          <p:cNvSpPr/>
          <p:nvPr/>
        </p:nvSpPr>
        <p:spPr>
          <a:xfrm>
            <a:off x="8046720" y="2401214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183880" y="2456078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Credit to Debit Ratio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2692652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1.00x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3056949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Total Credit ÷ Total Debit</a:t>
            </a:r>
            <a:endParaRPr lang="en-US" sz="1100" dirty="0"/>
          </a:p>
        </p:txBody>
      </p:sp>
      <p:sp>
        <p:nvSpPr>
          <p:cNvPr id="31" name="KPI7"/>
          <p:cNvSpPr/>
          <p:nvPr/>
        </p:nvSpPr>
        <p:spPr>
          <a:xfrm>
            <a:off x="548640" y="3385109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" y="3439973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 Transaction Amount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3676546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0.32M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040843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Total Credit − Total Debit</a:t>
            </a:r>
            <a:endParaRPr lang="en-US" sz="1100" dirty="0"/>
          </a:p>
        </p:txBody>
      </p:sp>
      <p:sp>
        <p:nvSpPr>
          <p:cNvPr id="35" name="KPI8"/>
          <p:cNvSpPr/>
          <p:nvPr/>
        </p:nvSpPr>
        <p:spPr>
          <a:xfrm>
            <a:off x="4297680" y="3385109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434840" y="3439973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Account Activity Ratio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434840" y="3676546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0.02%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4040843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Transactions ÷ Account Balance</a:t>
            </a:r>
            <a:endParaRPr lang="en-US" sz="1100" dirty="0"/>
          </a:p>
        </p:txBody>
      </p:sp>
      <p:sp>
        <p:nvSpPr>
          <p:cNvPr id="39" name="KPI9"/>
          <p:cNvSpPr/>
          <p:nvPr/>
        </p:nvSpPr>
        <p:spPr>
          <a:xfrm>
            <a:off x="8046720" y="3385109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183880" y="3439973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Transactions per Day/Week/Month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3676546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297.62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040843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Transaction volume trend over time</a:t>
            </a:r>
            <a:endParaRPr lang="en-US" sz="1100" dirty="0"/>
          </a:p>
        </p:txBody>
      </p:sp>
      <p:sp>
        <p:nvSpPr>
          <p:cNvPr id="43" name="KPI10"/>
          <p:cNvSpPr/>
          <p:nvPr/>
        </p:nvSpPr>
        <p:spPr>
          <a:xfrm>
            <a:off x="548640" y="4369003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85800" y="4423867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Transaction Amount by Branch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4660441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42.91M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5024738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Transaction amount grouped by branch</a:t>
            </a:r>
            <a:endParaRPr lang="en-US" sz="1100" dirty="0"/>
          </a:p>
        </p:txBody>
      </p:sp>
      <p:sp>
        <p:nvSpPr>
          <p:cNvPr id="47" name="KPI11"/>
          <p:cNvSpPr/>
          <p:nvPr/>
        </p:nvSpPr>
        <p:spPr>
          <a:xfrm>
            <a:off x="4297680" y="4369003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4434840" y="4423867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Transaction Volume by Bank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4434840" y="4660441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4434840" y="5024738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Amount grouped by bank name</a:t>
            </a:r>
            <a:endParaRPr lang="en-US" sz="1100" dirty="0"/>
          </a:p>
        </p:txBody>
      </p:sp>
      <p:sp>
        <p:nvSpPr>
          <p:cNvPr id="51" name="KPI12"/>
          <p:cNvSpPr/>
          <p:nvPr/>
        </p:nvSpPr>
        <p:spPr>
          <a:xfrm>
            <a:off x="8046720" y="4369003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8183880" y="4423867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Transaction Method Distribution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183880" y="4660441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83880" y="5024738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Usage of each transaction method</a:t>
            </a:r>
            <a:endParaRPr lang="en-US" sz="1100" dirty="0"/>
          </a:p>
        </p:txBody>
      </p:sp>
      <p:sp>
        <p:nvSpPr>
          <p:cNvPr id="55" name="KPI13"/>
          <p:cNvSpPr/>
          <p:nvPr/>
        </p:nvSpPr>
        <p:spPr>
          <a:xfrm>
            <a:off x="548640" y="5352898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685800" y="5407762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Branch Transaction Growth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85800" y="5644335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-96.57%</a:t>
            </a:r>
            <a:endParaRPr lang="en-US" sz="2000" dirty="0"/>
          </a:p>
        </p:txBody>
      </p:sp>
      <p:sp>
        <p:nvSpPr>
          <p:cNvPr id="58" name="Text 56"/>
          <p:cNvSpPr txBox="1"/>
          <p:nvPr/>
        </p:nvSpPr>
        <p:spPr>
          <a:xfrm>
            <a:off x="685800" y="6008632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% change in branch volume</a:t>
            </a:r>
            <a:endParaRPr lang="en-US" sz="1100" dirty="0"/>
          </a:p>
        </p:txBody>
      </p:sp>
      <p:sp>
        <p:nvSpPr>
          <p:cNvPr id="59" name="KPI14"/>
          <p:cNvSpPr/>
          <p:nvPr/>
        </p:nvSpPr>
        <p:spPr>
          <a:xfrm>
            <a:off x="4297680" y="5352898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4434840" y="5407762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High-Risk Transaction Flag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434840" y="5644335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000" dirty="0"/>
          </a:p>
        </p:txBody>
      </p:sp>
      <p:sp>
        <p:nvSpPr>
          <p:cNvPr id="62" name="Text 60"/>
          <p:cNvSpPr txBox="1"/>
          <p:nvPr/>
        </p:nvSpPr>
        <p:spPr>
          <a:xfrm>
            <a:off x="4434840" y="6008632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Unusually large or irregular amounts</a:t>
            </a:r>
            <a:endParaRPr lang="en-US" sz="1100" dirty="0"/>
          </a:p>
        </p:txBody>
      </p:sp>
      <p:sp>
        <p:nvSpPr>
          <p:cNvPr id="63" name="KPI15"/>
          <p:cNvSpPr/>
          <p:nvPr/>
        </p:nvSpPr>
        <p:spPr>
          <a:xfrm>
            <a:off x="8046720" y="5352898"/>
            <a:ext cx="3566160" cy="910742"/>
          </a:xfrm>
          <a:prstGeom prst="roundRect">
            <a:avLst>
              <a:gd name="adj" fmla="val 1204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8183880" y="5407762"/>
            <a:ext cx="3291840" cy="24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Suspicious Transaction Frequency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8183880" y="5644335"/>
            <a:ext cx="3291840" cy="364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5.00%</a:t>
            </a:r>
            <a:endParaRPr lang="en-US" sz="2000" dirty="0"/>
          </a:p>
        </p:txBody>
      </p:sp>
      <p:sp>
        <p:nvSpPr>
          <p:cNvPr id="66" name="Text 64"/>
          <p:cNvSpPr txBox="1"/>
          <p:nvPr/>
        </p:nvSpPr>
        <p:spPr>
          <a:xfrm>
            <a:off x="8183880" y="6008632"/>
            <a:ext cx="3291840" cy="218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Flagged high-risk transactions</a:t>
            </a:r>
            <a:endParaRPr lang="en-US" sz="110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-1280160" y="-914400"/>
            <a:ext cx="2560320" cy="256032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0789920" y="4389120"/>
            <a:ext cx="2560320" cy="256032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6949440" y="-54864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Step-by-step workflow from raw data to final dashboards</a:t>
            </a:r>
            <a:endParaRPr lang="en-US" sz="1600" dirty="0"/>
          </a:p>
        </p:txBody>
      </p:sp>
      <p:sp>
        <p:nvSpPr>
          <p:cNvPr id="7" name="Step1"/>
          <p:cNvSpPr/>
          <p:nvPr/>
        </p:nvSpPr>
        <p:spPr>
          <a:xfrm>
            <a:off x="548640" y="17373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9659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Dashboard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Initial dashboard built on the provided Excel data.</a:t>
            </a:r>
            <a:endParaRPr lang="en-US" sz="1400" dirty="0"/>
          </a:p>
        </p:txBody>
      </p:sp>
      <p:sp>
        <p:nvSpPr>
          <p:cNvPr id="12" name="Step2"/>
          <p:cNvSpPr/>
          <p:nvPr/>
        </p:nvSpPr>
        <p:spPr>
          <a:xfrm>
            <a:off x="2788920" y="17373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9659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747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Integration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611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Files loaded into MySQL under a banking data schema.</a:t>
            </a:r>
            <a:endParaRPr lang="en-US" sz="1400" dirty="0"/>
          </a:p>
        </p:txBody>
      </p:sp>
      <p:sp>
        <p:nvSpPr>
          <p:cNvPr id="17" name="Step3"/>
          <p:cNvSpPr/>
          <p:nvPr/>
        </p:nvSpPr>
        <p:spPr>
          <a:xfrm>
            <a:off x="5029200" y="17373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19659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Connection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611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Tableau and Power BI connected to MySQL for import.</a:t>
            </a:r>
            <a:endParaRPr lang="en-US" sz="1400" dirty="0"/>
          </a:p>
        </p:txBody>
      </p:sp>
      <p:sp>
        <p:nvSpPr>
          <p:cNvPr id="22" name="Step4"/>
          <p:cNvSpPr/>
          <p:nvPr/>
        </p:nvSpPr>
        <p:spPr>
          <a:xfrm>
            <a:off x="7269480" y="17373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55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611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dashboards built in Tableau and Power BI.</a:t>
            </a:r>
            <a:endParaRPr lang="en-US" sz="1400" dirty="0"/>
          </a:p>
        </p:txBody>
      </p:sp>
      <p:sp>
        <p:nvSpPr>
          <p:cNvPr id="27" name="Step5"/>
          <p:cNvSpPr/>
          <p:nvPr/>
        </p:nvSpPr>
        <p:spPr>
          <a:xfrm>
            <a:off x="9509760" y="1737360"/>
            <a:ext cx="2103120" cy="329184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95560" y="196596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955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64692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Assurance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6118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Dashboard figures compared with database records.</a:t>
            </a:r>
            <a:endParaRPr lang="en-US" sz="1400" dirty="0"/>
          </a:p>
        </p:txBody>
      </p:sp>
      <p:sp>
        <p:nvSpPr>
          <p:cNvPr id="32" name="ToolsBar"/>
          <p:cNvSpPr/>
          <p:nvPr/>
        </p:nvSpPr>
        <p:spPr>
          <a:xfrm>
            <a:off x="548640" y="530352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Tools used:  Excel   |   MySQL Workbench   |   Tableau   |   Power BI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9509760" y="4937760"/>
            <a:ext cx="3108960" cy="310896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1097280" y="731520"/>
            <a:ext cx="1828800" cy="182880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4754880" y="6035040"/>
            <a:ext cx="1097280" cy="109728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Excel: Bank Loan Dashboard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Pivot-based dashboard with slicers</a:t>
            </a:r>
            <a:endParaRPr lang="en-US" sz="1600" dirty="0"/>
          </a:p>
        </p:txBody>
      </p:sp>
      <p:sp>
        <p:nvSpPr>
          <p:cNvPr id="7" name="DashboardFrame"/>
          <p:cNvSpPr/>
          <p:nvPr/>
        </p:nvSpPr>
        <p:spPr>
          <a:xfrm>
            <a:off x="3237722" y="1417320"/>
            <a:ext cx="8665345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Dashboard" descr="Excel: Bank Loan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172" y="1650949"/>
            <a:ext cx="8550445" cy="438409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38328" y="1376629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338328" y="1696669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8328" y="1742389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₹73.27 Cr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38328" y="2103577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Funded Amount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338328" y="2466289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38328" y="2512009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38328" y="2873197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Loans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338328" y="3235909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38328" y="3281629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₹15.53 Cr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" y="3642817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Interest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338328" y="4005529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38328" y="4051249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338328" y="4412437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Delinquent Rate</a:t>
            </a:r>
            <a:endParaRPr lang="en-US" sz="1200" dirty="0"/>
          </a:p>
        </p:txBody>
      </p:sp>
      <p:sp>
        <p:nvSpPr>
          <p:cNvPr id="22" name="KeyFigure5"/>
          <p:cNvSpPr/>
          <p:nvPr/>
        </p:nvSpPr>
        <p:spPr>
          <a:xfrm>
            <a:off x="338328" y="4775149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38328" y="4820869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338328" y="5182057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Loan Verification Rate</a:t>
            </a:r>
            <a:endParaRPr lang="en-US" sz="1200" dirty="0"/>
          </a:p>
        </p:txBody>
      </p:sp>
      <p:sp>
        <p:nvSpPr>
          <p:cNvPr id="25" name="KeyFigure6"/>
          <p:cNvSpPr/>
          <p:nvPr/>
        </p:nvSpPr>
        <p:spPr>
          <a:xfrm>
            <a:off x="338328" y="5544769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338328" y="5590489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338328" y="5951677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Avg Interest Rate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972800" y="-1280160"/>
            <a:ext cx="2377440" cy="237744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82880" y="5669280"/>
            <a:ext cx="2011680" cy="201168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9144000" y="310896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Excel: Credit-Debit Dashboard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Pivot-based dashboard with slicers</a:t>
            </a:r>
            <a:endParaRPr lang="en-US" sz="1600" dirty="0"/>
          </a:p>
        </p:txBody>
      </p:sp>
      <p:sp>
        <p:nvSpPr>
          <p:cNvPr id="7" name="DashboardFrame"/>
          <p:cNvSpPr/>
          <p:nvPr/>
        </p:nvSpPr>
        <p:spPr>
          <a:xfrm>
            <a:off x="548640" y="1417320"/>
            <a:ext cx="827532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Dashboard" descr="Excel: Credit-Debit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673352"/>
            <a:ext cx="8165592" cy="43190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0" y="14173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9052560" y="17373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052560" y="17830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1442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Transactions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9052560" y="250698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052560" y="255270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₹12.76 Cr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291388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Credit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9052560" y="327660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052560" y="332232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₹12.73 Cr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368350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Debit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9052560" y="404622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052560" y="409194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₹52.61 Cr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445312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Balance</a:t>
            </a:r>
            <a:endParaRPr lang="en-US" sz="1200" dirty="0"/>
          </a:p>
        </p:txBody>
      </p:sp>
      <p:sp>
        <p:nvSpPr>
          <p:cNvPr id="22" name="KeyFigure5"/>
          <p:cNvSpPr/>
          <p:nvPr/>
        </p:nvSpPr>
        <p:spPr>
          <a:xfrm>
            <a:off x="9052560" y="481584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052560" y="486156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5.00%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522274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Suspicious Frequency</a:t>
            </a:r>
            <a:endParaRPr lang="en-US" sz="1200" dirty="0"/>
          </a:p>
        </p:txBody>
      </p:sp>
      <p:sp>
        <p:nvSpPr>
          <p:cNvPr id="25" name="KeyFigure6"/>
          <p:cNvSpPr/>
          <p:nvPr/>
        </p:nvSpPr>
        <p:spPr>
          <a:xfrm>
            <a:off x="9052560" y="55854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052560" y="56311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-96.57%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59923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Branch Growth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8229600" y="5669280"/>
            <a:ext cx="1280160" cy="128016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MySQL: Bank Loan Queries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Table banking_data, schema banking_analytics_project2</a:t>
            </a:r>
            <a:endParaRPr lang="en-US" sz="1600" dirty="0"/>
          </a:p>
        </p:txBody>
      </p:sp>
      <p:sp>
        <p:nvSpPr>
          <p:cNvPr id="7" name="SQLFrame"/>
          <p:cNvSpPr/>
          <p:nvPr/>
        </p:nvSpPr>
        <p:spPr>
          <a:xfrm>
            <a:off x="548640" y="1417320"/>
            <a:ext cx="512064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SQLScreenshot" descr="MySQL: Bank Loan Qu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68" y="1472184"/>
            <a:ext cx="4045384" cy="4736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5943600" y="173736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Rows in banking_data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8823960" y="173736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82396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25.93%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Highest Officer Default Rate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5943600" y="292608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943600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Loans by That Officer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8823960" y="292608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823960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Min. Loans per Officer</a:t>
            </a:r>
            <a:endParaRPr lang="en-US" sz="1200" dirty="0"/>
          </a:p>
        </p:txBody>
      </p:sp>
      <p:sp>
        <p:nvSpPr>
          <p:cNvPr id="22" name="QueryCard"/>
          <p:cNvSpPr/>
          <p:nvPr/>
        </p:nvSpPr>
        <p:spPr>
          <a:xfrm>
            <a:off x="5943600" y="4206240"/>
            <a:ext cx="5696712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217920" y="43434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Part 1: KPI queries, Part 2: analyst scenarios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Loan officer leaderboard ranked by default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default rate: Pushpendra Kumar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-1280160" y="-914400"/>
            <a:ext cx="2560320" cy="256032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0789920" y="4389120"/>
            <a:ext cx="2560320" cy="256032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6949440" y="-54864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MySQL: Credit-Debit Queries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Table debit_credit_transactions</a:t>
            </a:r>
            <a:endParaRPr lang="en-US" sz="1600" dirty="0"/>
          </a:p>
        </p:txBody>
      </p:sp>
      <p:sp>
        <p:nvSpPr>
          <p:cNvPr id="7" name="SQLFrame"/>
          <p:cNvSpPr/>
          <p:nvPr/>
        </p:nvSpPr>
        <p:spPr>
          <a:xfrm>
            <a:off x="6669517" y="1417320"/>
            <a:ext cx="512064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SQLScreenshot" descr="MySQL: Credit-Debit Qu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717" y="1472184"/>
            <a:ext cx="4866643" cy="4736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9166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569166" y="173736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69166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69166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Rows in Table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3449526" y="173736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49526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16.80%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449526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Top Share: Kotak Mahindra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569166" y="292608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69166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16.43%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569166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Lowest Share: HDFC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3449526" y="2926080"/>
            <a:ext cx="2743200" cy="1097280"/>
          </a:xfrm>
          <a:prstGeom prst="roundRect">
            <a:avLst>
              <a:gd name="adj" fmla="val 1166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49526" y="29992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3449526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Banks Compared</a:t>
            </a:r>
            <a:endParaRPr lang="en-US" sz="1200" dirty="0"/>
          </a:p>
        </p:txBody>
      </p:sp>
      <p:sp>
        <p:nvSpPr>
          <p:cNvPr id="22" name="QueryCard"/>
          <p:cNvSpPr/>
          <p:nvPr/>
        </p:nvSpPr>
        <p:spPr>
          <a:xfrm>
            <a:off x="569166" y="4206240"/>
            <a:ext cx="5696712" cy="20574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43486" y="434340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Bank market share by transaction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Axis 16.76%, SBI 16.71%, ICICI 16.68%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Shares are close: volume is evenly spread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9509760" y="4937760"/>
            <a:ext cx="3108960" cy="310896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1097280" y="731520"/>
            <a:ext cx="1828800" cy="182880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4754880" y="6035040"/>
            <a:ext cx="1097280" cy="109728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Tableau: Bank Loan Dashboard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Connected to MySQL</a:t>
            </a:r>
            <a:endParaRPr lang="en-US" sz="1600" dirty="0"/>
          </a:p>
        </p:txBody>
      </p:sp>
      <p:sp>
        <p:nvSpPr>
          <p:cNvPr id="7" name="DashboardFrame"/>
          <p:cNvSpPr/>
          <p:nvPr/>
        </p:nvSpPr>
        <p:spPr>
          <a:xfrm>
            <a:off x="548640" y="1417320"/>
            <a:ext cx="827532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Dashboard" descr="Tableau Bank Analytics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631894"/>
            <a:ext cx="8165592" cy="44171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0" y="14173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9052560" y="17373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052560" y="17830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₹732.70M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1442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Loan Amount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9052560" y="250698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052560" y="255270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65,535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291388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Loans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9052560" y="327660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052560" y="332232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₹815M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368350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Collection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9052560" y="404622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052560" y="409194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₹155.29M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445312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Interest</a:t>
            </a:r>
            <a:endParaRPr lang="en-US" sz="1200" dirty="0"/>
          </a:p>
        </p:txBody>
      </p:sp>
      <p:sp>
        <p:nvSpPr>
          <p:cNvPr id="22" name="KeyFigure5"/>
          <p:cNvSpPr/>
          <p:nvPr/>
        </p:nvSpPr>
        <p:spPr>
          <a:xfrm>
            <a:off x="9052560" y="481584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052560" y="486156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1,020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522274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Default Loan Count</a:t>
            </a:r>
            <a:endParaRPr lang="en-US" sz="1200" dirty="0"/>
          </a:p>
        </p:txBody>
      </p:sp>
      <p:sp>
        <p:nvSpPr>
          <p:cNvPr id="25" name="KeyFigure6"/>
          <p:cNvSpPr/>
          <p:nvPr/>
        </p:nvSpPr>
        <p:spPr>
          <a:xfrm>
            <a:off x="9052560" y="55854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052560" y="56311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10.84%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59923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Delinquent Loan Rate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972800" y="-1280160"/>
            <a:ext cx="2377440" cy="237744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82880" y="5669280"/>
            <a:ext cx="2011680" cy="201168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9144000" y="310896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Tableau: Credit-Debit Dashboard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Connected to MySQL</a:t>
            </a:r>
            <a:endParaRPr lang="en-US" sz="1600" dirty="0"/>
          </a:p>
        </p:txBody>
      </p:sp>
      <p:sp>
        <p:nvSpPr>
          <p:cNvPr id="7" name="DashboardFrame"/>
          <p:cNvSpPr/>
          <p:nvPr/>
        </p:nvSpPr>
        <p:spPr>
          <a:xfrm>
            <a:off x="3450462" y="1417320"/>
            <a:ext cx="827532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Dashboard" descr="Tableau Bank Transaction Analytics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352" y="1561575"/>
            <a:ext cx="8165592" cy="455781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09784" y="14173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309784" y="17373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09784" y="17830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09784" y="21442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Customers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309784" y="250698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09784" y="255270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127.60M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09784" y="291388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Credit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309784" y="327660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09784" y="332232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127.29M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09784" y="368350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Debit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309784" y="404622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09784" y="409194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318.1K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309784" y="445312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Net Transaction</a:t>
            </a:r>
            <a:endParaRPr lang="en-US" sz="1200" dirty="0"/>
          </a:p>
        </p:txBody>
      </p:sp>
      <p:sp>
        <p:nvSpPr>
          <p:cNvPr id="22" name="KeyFigure5"/>
          <p:cNvSpPr/>
          <p:nvPr/>
        </p:nvSpPr>
        <p:spPr>
          <a:xfrm>
            <a:off x="309784" y="481584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09784" y="486156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309784" y="522274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Credit to Debit Ratio</a:t>
            </a:r>
            <a:endParaRPr lang="en-US" sz="1200" dirty="0"/>
          </a:p>
        </p:txBody>
      </p:sp>
      <p:sp>
        <p:nvSpPr>
          <p:cNvPr id="25" name="KeyFigure6"/>
          <p:cNvSpPr/>
          <p:nvPr/>
        </p:nvSpPr>
        <p:spPr>
          <a:xfrm>
            <a:off x="309784" y="55854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09784" y="59923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Balance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300448" y="56311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526M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8229600" y="5669280"/>
            <a:ext cx="1280160" cy="128016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Bank Loan Dashboard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Connected to MySQL</a:t>
            </a:r>
            <a:endParaRPr lang="en-US" sz="1600" dirty="0"/>
          </a:p>
        </p:txBody>
      </p:sp>
      <p:sp>
        <p:nvSpPr>
          <p:cNvPr id="7" name="DashboardFrame"/>
          <p:cNvSpPr/>
          <p:nvPr/>
        </p:nvSpPr>
        <p:spPr>
          <a:xfrm>
            <a:off x="548640" y="1417320"/>
            <a:ext cx="827532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Dashboard" descr="Power BI: Bank Loan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538245"/>
            <a:ext cx="8165592" cy="46044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0" y="14173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9052560" y="17373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052560" y="17830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733M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1442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Funded Loans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9052560" y="250698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052560" y="255270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808.3M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291388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Collections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9052560" y="327660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052560" y="332232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155M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368350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Interest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9052560" y="404622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052560" y="409194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1.6%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445312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Default Loan Rate</a:t>
            </a:r>
            <a:endParaRPr lang="en-US" sz="1200" dirty="0"/>
          </a:p>
        </p:txBody>
      </p:sp>
      <p:sp>
        <p:nvSpPr>
          <p:cNvPr id="22" name="KeyFigure5"/>
          <p:cNvSpPr/>
          <p:nvPr/>
        </p:nvSpPr>
        <p:spPr>
          <a:xfrm>
            <a:off x="9052560" y="481584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052560" y="486156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10.8%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522274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Delinquent Loan Rate</a:t>
            </a:r>
            <a:endParaRPr lang="en-US" sz="1200" dirty="0"/>
          </a:p>
        </p:txBody>
      </p:sp>
      <p:sp>
        <p:nvSpPr>
          <p:cNvPr id="25" name="KeyFigure6"/>
          <p:cNvSpPr/>
          <p:nvPr/>
        </p:nvSpPr>
        <p:spPr>
          <a:xfrm>
            <a:off x="9052560" y="55854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052560" y="56311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59923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Non-Verified Loans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-1280160" y="-914400"/>
            <a:ext cx="2560320" cy="256032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0789920" y="4389120"/>
            <a:ext cx="2560320" cy="256032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6949440" y="-54864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Credit-Debit Dashboard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Analysis | Connected to MySQL</a:t>
            </a:r>
            <a:endParaRPr lang="en-US" sz="1600" dirty="0"/>
          </a:p>
        </p:txBody>
      </p:sp>
      <p:sp>
        <p:nvSpPr>
          <p:cNvPr id="7" name="DashboardFrame"/>
          <p:cNvSpPr/>
          <p:nvPr/>
        </p:nvSpPr>
        <p:spPr>
          <a:xfrm>
            <a:off x="3581088" y="1426651"/>
            <a:ext cx="8275320" cy="484632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pic>
        <p:nvPicPr>
          <p:cNvPr id="8" name="Dashboard" descr="Power BI: Credit-Debit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952" y="1565948"/>
            <a:ext cx="8165592" cy="456772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68401" y="1417320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KEY FIGURES</a:t>
            </a:r>
            <a:endParaRPr lang="en-US" sz="1200" dirty="0"/>
          </a:p>
        </p:txBody>
      </p:sp>
      <p:sp>
        <p:nvSpPr>
          <p:cNvPr id="10" name="KeyFigure1"/>
          <p:cNvSpPr/>
          <p:nvPr/>
        </p:nvSpPr>
        <p:spPr>
          <a:xfrm>
            <a:off x="468401" y="17373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8401" y="17830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₹127.60M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8401" y="21442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Credit</a:t>
            </a:r>
            <a:endParaRPr lang="en-US" sz="1200" dirty="0"/>
          </a:p>
        </p:txBody>
      </p:sp>
      <p:sp>
        <p:nvSpPr>
          <p:cNvPr id="13" name="KeyFigure2"/>
          <p:cNvSpPr/>
          <p:nvPr/>
        </p:nvSpPr>
        <p:spPr>
          <a:xfrm>
            <a:off x="468401" y="250698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68401" y="255270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₹127.29M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68401" y="291388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Debit</a:t>
            </a:r>
            <a:endParaRPr lang="en-US" sz="1200" dirty="0"/>
          </a:p>
        </p:txBody>
      </p:sp>
      <p:sp>
        <p:nvSpPr>
          <p:cNvPr id="16" name="KeyFigure3"/>
          <p:cNvSpPr/>
          <p:nvPr/>
        </p:nvSpPr>
        <p:spPr>
          <a:xfrm>
            <a:off x="468401" y="327660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68401" y="332232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₹318.1K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68401" y="368350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Net Transaction</a:t>
            </a:r>
            <a:endParaRPr lang="en-US" sz="1200" dirty="0"/>
          </a:p>
        </p:txBody>
      </p:sp>
      <p:sp>
        <p:nvSpPr>
          <p:cNvPr id="19" name="KeyFigure4"/>
          <p:cNvSpPr/>
          <p:nvPr/>
        </p:nvSpPr>
        <p:spPr>
          <a:xfrm>
            <a:off x="468401" y="404622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68401" y="409194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₹254.9M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68401" y="445312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Total Transactions</a:t>
            </a:r>
            <a:endParaRPr lang="en-US" sz="1200" dirty="0"/>
          </a:p>
        </p:txBody>
      </p:sp>
      <p:sp>
        <p:nvSpPr>
          <p:cNvPr id="22" name="KeyFigure5"/>
          <p:cNvSpPr/>
          <p:nvPr/>
        </p:nvSpPr>
        <p:spPr>
          <a:xfrm>
            <a:off x="468401" y="481584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68401" y="486156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-96.58%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468401" y="522274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High-Risk Growth</a:t>
            </a:r>
            <a:endParaRPr lang="en-US" sz="1200" dirty="0"/>
          </a:p>
        </p:txBody>
      </p:sp>
      <p:sp>
        <p:nvSpPr>
          <p:cNvPr id="25" name="KeyFigure6"/>
          <p:cNvSpPr/>
          <p:nvPr/>
        </p:nvSpPr>
        <p:spPr>
          <a:xfrm>
            <a:off x="468401" y="5585460"/>
            <a:ext cx="2587752" cy="678180"/>
          </a:xfrm>
          <a:prstGeom prst="roundRect">
            <a:avLst>
              <a:gd name="adj" fmla="val 188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B1B33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68401" y="5631180"/>
            <a:ext cx="258775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0.03%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468401" y="5992368"/>
            <a:ext cx="2587752" cy="23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Account Activity Ratio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9509760" y="4937760"/>
            <a:ext cx="3108960" cy="310896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1097280" y="731520"/>
            <a:ext cx="1828800" cy="182880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4754880" y="6035040"/>
            <a:ext cx="1097280" cy="109728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Insights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What the dashboards tell stakeholders</a:t>
            </a:r>
            <a:endParaRPr lang="en-US" sz="1600" dirty="0"/>
          </a:p>
        </p:txBody>
      </p:sp>
      <p:sp>
        <p:nvSpPr>
          <p:cNvPr id="7" name="InsightCard1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91640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Bank Loan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Delinquency is 10.8%, far above the 1.6% default rate: step up early follow-up on overdue loans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26% of loans are not verified: tighten verification before disbursement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Uttar Pradesh, Punjab and Bihar lead lending: watch concentration risk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Loans cluster in grades B and C and ages 26-35: target this core segment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officers with high default rates, e.g. Pushpendra Kumar at 25.93%</a:t>
            </a:r>
            <a:endParaRPr lang="en-US" sz="1600" dirty="0"/>
          </a:p>
        </p:txBody>
      </p:sp>
      <p:sp>
        <p:nvSpPr>
          <p:cNvPr id="11" name="InsightCard2"/>
          <p:cNvSpPr/>
          <p:nvPr/>
        </p:nvSpPr>
        <p:spPr>
          <a:xfrm>
            <a:off x="6309360" y="150876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691640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Credit-Debit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Credits (127.60M) and debits (127.29M) are almost equal: net inflow is only 318.1K, so liquidity needs watching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Bank shares are even (16.4% to 16.8%): no bank dominates transaction value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Punjab National Bank shows a negative net: review its outflows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 the 5% suspicious transaction frequency with stricter alerts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December looks partial, so the -96.58% growth is a data artifact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972800" y="-1280160"/>
            <a:ext cx="2377440" cy="237744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82880" y="5669280"/>
            <a:ext cx="2011680" cy="201168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9144000" y="3108960"/>
            <a:ext cx="914400" cy="91440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Key takeaway</a:t>
            </a:r>
            <a:endParaRPr lang="en-US" sz="1600" dirty="0"/>
          </a:p>
        </p:txBody>
      </p:sp>
      <p:sp>
        <p:nvSpPr>
          <p:cNvPr id="7" name="Stat1"/>
          <p:cNvSpPr/>
          <p:nvPr/>
        </p:nvSpPr>
        <p:spPr>
          <a:xfrm>
            <a:off x="548640" y="16002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tools used: Excel, MySQL, Tableau, Power BI</a:t>
            </a:r>
            <a:endParaRPr lang="en-US" sz="1400" dirty="0"/>
          </a:p>
        </p:txBody>
      </p:sp>
      <p:sp>
        <p:nvSpPr>
          <p:cNvPr id="10" name="Stat2"/>
          <p:cNvSpPr/>
          <p:nvPr/>
        </p:nvSpPr>
        <p:spPr>
          <a:xfrm>
            <a:off x="4297680" y="16002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projects: Bank Loan and Credit-Debit</a:t>
            </a:r>
            <a:endParaRPr lang="en-US" sz="1400" dirty="0"/>
          </a:p>
        </p:txBody>
      </p:sp>
      <p:sp>
        <p:nvSpPr>
          <p:cNvPr id="13" name="Stat3"/>
          <p:cNvSpPr/>
          <p:nvPr/>
        </p:nvSpPr>
        <p:spPr>
          <a:xfrm>
            <a:off x="8046720" y="160020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165K+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records analysed across both datasets</a:t>
            </a:r>
            <a:endParaRPr lang="en-US" sz="1400" dirty="0"/>
          </a:p>
        </p:txBody>
      </p:sp>
      <p:sp>
        <p:nvSpPr>
          <p:cNvPr id="16" name="ConclusionCard"/>
          <p:cNvSpPr/>
          <p:nvPr/>
        </p:nvSpPr>
        <p:spPr>
          <a:xfrm>
            <a:off x="548640" y="3657600"/>
            <a:ext cx="11064240" cy="25603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8862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Dashboards give stakeholders one view of lending quality, repayment and cash flow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same KPIs were reproduced across three tools and checked against MySQL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Loan risk sits in delinquency and unverified loans; transaction flow is balanced across banks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workflow can be reused for further banking datasets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10241280" y="-1097280"/>
            <a:ext cx="2926080" cy="2926080"/>
          </a:xfrm>
          <a:prstGeom prst="ellipse">
            <a:avLst/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8229600" y="5669280"/>
            <a:ext cx="1280160" cy="1280160"/>
          </a:xfrm>
          <a:prstGeom prst="ellipse">
            <a:avLst/>
          </a:prstGeom>
          <a:solidFill>
            <a:schemeClr val="accent3">
              <a:alpha val="14000"/>
            </a:schemeClr>
          </a:solidFill>
          <a:ln/>
        </p:spPr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6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9875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What we ran into and what we took away</a:t>
            </a:r>
            <a:endParaRPr lang="en-US" sz="1600" dirty="0"/>
          </a:p>
        </p:txBody>
      </p:sp>
      <p:sp>
        <p:nvSpPr>
          <p:cNvPr id="7" name="CLCard1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91640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Challenges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 files: 65K loan rows and 100K transactions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Connecting Tableau and Power BI to MySQL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Collections differ slightly between tools (Tableau 814.9M, Power BI 808.3M)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Stray "State Name" header row in the Power BI state chart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December data is partial, so growth shows -96.57%</a:t>
            </a:r>
            <a:endParaRPr lang="en-US" sz="1600" dirty="0"/>
          </a:p>
        </p:txBody>
      </p:sp>
      <p:sp>
        <p:nvSpPr>
          <p:cNvPr id="11" name="CLCard2"/>
          <p:cNvSpPr/>
          <p:nvPr/>
        </p:nvSpPr>
        <p:spPr>
          <a:xfrm>
            <a:off x="6309360" y="150876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691640"/>
            <a:ext cx="201168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Learnings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data and clear KPI definitions come first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SQL layer keeps every tool on one source of truth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QA against the database catches mismatches early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tool has strengths: Excel for speed, Tableau and Power BI for interactivity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orb1"/>
          <p:cNvSpPr/>
          <p:nvPr/>
        </p:nvSpPr>
        <p:spPr>
          <a:xfrm>
            <a:off x="-1280160" y="-914400"/>
            <a:ext cx="2560320" cy="2560320"/>
          </a:xfrm>
          <a:prstGeom prst="ellipse">
            <a:avLst/>
          </a:prstGeom>
          <a:solidFill>
            <a:schemeClr val="accent1">
              <a:alpha val="22000"/>
            </a:schemeClr>
          </a:solidFill>
          <a:ln/>
        </p:spPr>
      </p:sp>
      <p:sp>
        <p:nvSpPr>
          <p:cNvPr id="3" name="!!orb2"/>
          <p:cNvSpPr/>
          <p:nvPr/>
        </p:nvSpPr>
        <p:spPr>
          <a:xfrm>
            <a:off x="10789920" y="4389120"/>
            <a:ext cx="2560320" cy="2560320"/>
          </a:xfrm>
          <a:prstGeom prst="ellipse">
            <a:avLst/>
          </a:prstGeom>
          <a:solidFill>
            <a:schemeClr val="accent2">
              <a:alpha val="22000"/>
            </a:schemeClr>
          </a:solidFill>
          <a:ln/>
        </p:spPr>
      </p:sp>
      <p:sp>
        <p:nvSpPr>
          <p:cNvPr id="4" name="!!orb3"/>
          <p:cNvSpPr/>
          <p:nvPr/>
        </p:nvSpPr>
        <p:spPr>
          <a:xfrm>
            <a:off x="6949440" y="-548640"/>
            <a:ext cx="914400" cy="914400"/>
          </a:xfrm>
          <a:prstGeom prst="ellipse">
            <a:avLst/>
          </a:prstGeom>
          <a:solidFill>
            <a:schemeClr val="accent3">
              <a:alpha val="22000"/>
            </a:schemeClr>
          </a:solidFill>
          <a:ln/>
        </p:spPr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836505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nking Analytics">
  <a:themeElements>
    <a:clrScheme name="Banking Analytics">
      <a:dk1>
        <a:srgbClr val="0B1B33"/>
      </a:dk1>
      <a:lt1>
        <a:srgbClr val="FFFFFF"/>
      </a:lt1>
      <a:dk2>
        <a:srgbClr val="12335B"/>
      </a:dk2>
      <a:lt2>
        <a:srgbClr val="F3F5F9"/>
      </a:lt2>
      <a:accent1>
        <a:srgbClr val="C99A2E"/>
      </a:accent1>
      <a:accent2>
        <a:srgbClr val="0E7C86"/>
      </a:accent2>
      <a:accent3>
        <a:srgbClr val="1F5FA8"/>
      </a:accent3>
      <a:accent4>
        <a:srgbClr val="E4572E"/>
      </a:accent4>
      <a:accent5>
        <a:srgbClr val="5B8DB8"/>
      </a:accent5>
      <a:accent6>
        <a:srgbClr val="7A8CA5"/>
      </a:accent6>
      <a:hlink>
        <a:srgbClr val="1F5FA8"/>
      </a:hlink>
      <a:folHlink>
        <a:srgbClr val="7A8CA5"/>
      </a:folHlink>
    </a:clrScheme>
    <a:fontScheme name="Banking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1433</Words>
  <Application>Microsoft Office PowerPoint</Application>
  <PresentationFormat>Widescreen</PresentationFormat>
  <Paragraphs>363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Banking Analytics</vt:lpstr>
      <vt:lpstr>Banking Analytics</vt:lpstr>
      <vt:lpstr>Introduction</vt:lpstr>
      <vt:lpstr>Data Overview</vt:lpstr>
      <vt:lpstr>Objectives: Loan KPIs</vt:lpstr>
      <vt:lpstr>Objectives: Credit-Debit KPIs</vt:lpstr>
      <vt:lpstr>Process</vt:lpstr>
      <vt:lpstr>Excel: Bank Loan Dashboard</vt:lpstr>
      <vt:lpstr>Excel: Credit-Debit Dashboard</vt:lpstr>
      <vt:lpstr>MySQL: Bank Loan Queries</vt:lpstr>
      <vt:lpstr>MySQL: Credit-Debit Queries</vt:lpstr>
      <vt:lpstr>Tableau: Bank Loan Dashboard</vt:lpstr>
      <vt:lpstr>Tableau: Credit-Debit Dashboard</vt:lpstr>
      <vt:lpstr>Power BI: Bank Loan Dashboard</vt:lpstr>
      <vt:lpstr>Power BI: Credit-Debit Dashboard</vt:lpstr>
      <vt:lpstr>Recommendations and Insights</vt:lpstr>
      <vt:lpstr>Conclusion</vt:lpstr>
      <vt:lpstr>Challenges &amp; Learnings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Analytics - Group 4</dc:title>
  <dc:subject>PptxGenJS Presentation</dc:subject>
  <dc:creator>Group 4</dc:creator>
  <cp:lastModifiedBy>Akshay Rathod</cp:lastModifiedBy>
  <cp:revision>2</cp:revision>
  <dcterms:created xsi:type="dcterms:W3CDTF">2026-10-05T11:56:19Z</dcterms:created>
  <dcterms:modified xsi:type="dcterms:W3CDTF">2026-10-05T17:12:30Z</dcterms:modified>
</cp:coreProperties>
</file>